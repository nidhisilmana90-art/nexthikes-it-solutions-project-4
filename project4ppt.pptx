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17" r:id="rId5"/>
    <p:sldId id="307" r:id="rId6"/>
    <p:sldId id="309" r:id="rId7"/>
    <p:sldId id="318" r:id="rId8"/>
    <p:sldId id="319" r:id="rId9"/>
    <p:sldId id="320" r:id="rId10"/>
    <p:sldId id="321" r:id="rId11"/>
    <p:sldId id="322" r:id="rId12"/>
    <p:sldId id="323" r:id="rId13"/>
    <p:sldId id="324" r:id="rId14"/>
    <p:sldId id="263" r:id="rId15"/>
    <p:sldId id="310" r:id="rId16"/>
    <p:sldId id="30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405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4/20/2026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5542" y="1077686"/>
            <a:ext cx="10818876" cy="5301343"/>
          </a:xfrm>
        </p:spPr>
        <p:txBody>
          <a:bodyPr anchor="ctr"/>
          <a:lstStyle/>
          <a:p>
            <a:r>
              <a:rPr lang="en-US" dirty="0" err="1">
                <a:latin typeface="Algerian" panose="04020705040A02060702" pitchFamily="82" charset="0"/>
              </a:rPr>
              <a:t>NextHikes</a:t>
            </a:r>
            <a:r>
              <a:rPr lang="en-US" dirty="0">
                <a:latin typeface="Algerian" panose="04020705040A02060702" pitchFamily="82" charset="0"/>
              </a:rPr>
              <a:t> IT Solutions-Project_4</a:t>
            </a:r>
            <a:br>
              <a:rPr lang="en-US" dirty="0">
                <a:latin typeface="Algerian" panose="04020705040A02060702" pitchFamily="82" charset="0"/>
              </a:rPr>
            </a:br>
            <a:br>
              <a:rPr lang="en-US" dirty="0">
                <a:latin typeface="Algerian" panose="04020705040A02060702" pitchFamily="82" charset="0"/>
              </a:rPr>
            </a:br>
            <a:r>
              <a:rPr lang="en-US" dirty="0">
                <a:latin typeface="Agency FB" panose="020B0503020202020204" pitchFamily="34" charset="0"/>
              </a:rPr>
              <a:t>Feature Extraction and Price Prediction for </a:t>
            </a:r>
            <a:br>
              <a:rPr lang="en-US" dirty="0">
                <a:latin typeface="Agency FB" panose="020B0503020202020204" pitchFamily="34" charset="0"/>
              </a:rPr>
            </a:br>
            <a:r>
              <a:rPr lang="en-US" dirty="0">
                <a:latin typeface="Agency FB" panose="020B0503020202020204" pitchFamily="34" charset="0"/>
              </a:rPr>
              <a:t>Mobile Phones</a:t>
            </a:r>
            <a:br>
              <a:rPr lang="en-US" dirty="0">
                <a:latin typeface="Algerian" panose="04020705040A02060702" pitchFamily="82" charset="0"/>
              </a:rPr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67" y="914400"/>
            <a:ext cx="4680876" cy="4495800"/>
          </a:xfrm>
        </p:spPr>
        <p:txBody>
          <a:bodyPr/>
          <a:lstStyle/>
          <a:p>
            <a:r>
              <a:rPr lang="en-US" sz="1600" dirty="0"/>
              <a:t> </a:t>
            </a:r>
            <a:r>
              <a:rPr lang="en-US" dirty="0"/>
              <a:t>What is This Project?</a:t>
            </a:r>
            <a:br>
              <a:rPr lang="en-US" sz="1600" dirty="0"/>
            </a:br>
            <a:br>
              <a:rPr lang="en-US" sz="1600" dirty="0"/>
            </a:br>
            <a:br>
              <a:rPr lang="en-US" sz="1600" dirty="0"/>
            </a:br>
            <a:endParaRPr lang="en-US" sz="1600" dirty="0"/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0D6FB95E-6987-A57C-3663-3FD6F6FAC2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4571811"/>
              </p:ext>
            </p:extLst>
          </p:nvPr>
        </p:nvGraphicFramePr>
        <p:xfrm>
          <a:off x="6095999" y="533791"/>
          <a:ext cx="5584371" cy="6062953"/>
        </p:xfrm>
        <a:graphic>
          <a:graphicData uri="http://schemas.openxmlformats.org/drawingml/2006/table">
            <a:tbl>
              <a:tblPr firstRow="1" bandRow="1"/>
              <a:tblGrid>
                <a:gridCol w="5584371">
                  <a:extLst>
                    <a:ext uri="{9D8B030D-6E8A-4147-A177-3AD203B41FA5}">
                      <a16:colId xmlns:a16="http://schemas.microsoft.com/office/drawing/2014/main" val="1563570424"/>
                    </a:ext>
                  </a:extLst>
                </a:gridCol>
              </a:tblGrid>
              <a:tr h="1056307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Objective: Build an AI system that predicts smartphone prices based on specifications</a:t>
                      </a:r>
                      <a:endParaRPr lang="en-US" sz="2400" b="0" dirty="0"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9471877"/>
                  </a:ext>
                </a:extLst>
              </a:tr>
              <a:tr h="1442155"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How it Works: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Input: Phone features (RAM, Battery, Camera, Processor, etc.)</a:t>
                      </a:r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238222"/>
                  </a:ext>
                </a:extLst>
              </a:tr>
              <a:tr h="1081618"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Process: Machine Learning algorithms learn patterns from data</a:t>
                      </a:r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4452646"/>
                  </a:ext>
                </a:extLst>
              </a:tr>
              <a:tr h="144426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Output: Predicted phone price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Two AI Models Used: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Linear Regression - Simple &amp; Fast</a:t>
                      </a:r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977400"/>
                  </a:ext>
                </a:extLst>
              </a:tr>
              <a:tr h="1038605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Random Forest - Complex &amp; Accurate</a:t>
                      </a:r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6376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Loading &amp; Exploration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FDA37B-399A-B9F0-7A7D-2A891EB7FF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1952026"/>
            <a:ext cx="9100457" cy="3991574"/>
          </a:xfrm>
        </p:spPr>
        <p:txBody>
          <a:bodyPr>
            <a:noAutofit/>
          </a:bodyPr>
          <a:lstStyle/>
          <a:p>
            <a:r>
              <a:rPr lang="en-IN" sz="2400" dirty="0"/>
              <a:t>Source: Excel file ('Processed_Flipdata.xlsx')</a:t>
            </a:r>
          </a:p>
          <a:p>
            <a:r>
              <a:rPr lang="en-IN" sz="2400" dirty="0"/>
              <a:t>Records: 541 smartphones</a:t>
            </a:r>
          </a:p>
          <a:p>
            <a:r>
              <a:rPr lang="en-IN" sz="2400" dirty="0"/>
              <a:t>Features: Multiple specifications per phone</a:t>
            </a:r>
          </a:p>
          <a:p>
            <a:r>
              <a:rPr lang="en-IN" sz="2400" dirty="0"/>
              <a:t>Key Statistics:</a:t>
            </a:r>
          </a:p>
          <a:p>
            <a:pPr lvl="1"/>
            <a:r>
              <a:rPr lang="en-IN" sz="2400" dirty="0"/>
              <a:t>Total Phones: 541</a:t>
            </a:r>
          </a:p>
          <a:p>
            <a:pPr lvl="1"/>
            <a:r>
              <a:rPr lang="en-IN" sz="2400" dirty="0"/>
              <a:t>Total Features: Varies (after processing)</a:t>
            </a:r>
          </a:p>
          <a:p>
            <a:pPr lvl="1"/>
            <a:r>
              <a:rPr lang="en-IN" sz="2400" dirty="0"/>
              <a:t>Data includes brands, specs, and prices</a:t>
            </a:r>
          </a:p>
          <a:p>
            <a:r>
              <a:rPr lang="en-IN" sz="2400" dirty="0"/>
              <a:t>Output: Dataset overview, first few rows, column info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C03C7-4729-0EAF-0F0B-7570C8916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8001000" cy="1124712"/>
          </a:xfrm>
        </p:spPr>
        <p:txBody>
          <a:bodyPr/>
          <a:lstStyle/>
          <a:p>
            <a:r>
              <a:rPr lang="en-IN" b="1" dirty="0"/>
              <a:t>Data Cleaning &amp; Preprocessing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D09238-555A-4200-2A73-C878A6DC44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368F3AB8-4BD5-6D21-9B92-FF8AAF0A8E3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1750711"/>
            <a:ext cx="9612086" cy="4421489"/>
          </a:xfrm>
        </p:spPr>
        <p:txBody>
          <a:bodyPr>
            <a:normAutofit/>
          </a:bodyPr>
          <a:lstStyle/>
          <a:p>
            <a:r>
              <a:rPr lang="en-US" sz="2400" dirty="0"/>
              <a:t>Challenges:</a:t>
            </a:r>
          </a:p>
          <a:p>
            <a:pPr lvl="1"/>
            <a:r>
              <a:rPr lang="en-US" sz="2400" dirty="0"/>
              <a:t>Missing values in dataset</a:t>
            </a:r>
          </a:p>
          <a:p>
            <a:pPr lvl="1"/>
            <a:r>
              <a:rPr lang="en-US" sz="2400" dirty="0"/>
              <a:t>Text data (brands, colors) needs conversion to numbers</a:t>
            </a:r>
          </a:p>
          <a:p>
            <a:pPr lvl="1"/>
            <a:r>
              <a:rPr lang="en-US" sz="2400" dirty="0"/>
              <a:t>AI models require numerical inputs</a:t>
            </a:r>
          </a:p>
          <a:p>
            <a:r>
              <a:rPr lang="en-US" sz="2400" dirty="0"/>
              <a:t>Solutions:</a:t>
            </a:r>
          </a:p>
          <a:p>
            <a:pPr lvl="1"/>
            <a:r>
              <a:rPr lang="en-US" sz="2400" dirty="0"/>
              <a:t>Fill missing values using forward/backward fill</a:t>
            </a:r>
          </a:p>
          <a:p>
            <a:pPr lvl="1"/>
            <a:r>
              <a:rPr lang="en-US" sz="2400" dirty="0"/>
              <a:t>Convert categorical text to numbers using One-Hot Encoding</a:t>
            </a:r>
          </a:p>
          <a:p>
            <a:pPr lvl="1"/>
            <a:r>
              <a:rPr lang="en-US" sz="2400" dirty="0"/>
              <a:t>Ensure all data is numeric</a:t>
            </a:r>
          </a:p>
          <a:p>
            <a:r>
              <a:rPr lang="en-US" sz="2400" dirty="0"/>
              <a:t>Result: All columns converted to numbers, ready for AI</a:t>
            </a:r>
          </a:p>
        </p:txBody>
      </p:sp>
    </p:spTree>
    <p:extLst>
      <p:ext uri="{BB962C8B-B14F-4D97-AF65-F5344CB8AC3E}">
        <p14:creationId xmlns:p14="http://schemas.microsoft.com/office/powerpoint/2010/main" val="1485604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07AB9-16B4-02EA-E503-058AF92E3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284515"/>
            <a:ext cx="7534656" cy="914400"/>
          </a:xfrm>
        </p:spPr>
        <p:txBody>
          <a:bodyPr/>
          <a:lstStyle/>
          <a:p>
            <a:r>
              <a:rPr lang="en-IN" b="1" dirty="0"/>
              <a:t> Data Visualization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40D68-390F-9D2B-40DD-82FA08FDC79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42999" y="1750711"/>
            <a:ext cx="9252858" cy="4377945"/>
          </a:xfrm>
        </p:spPr>
        <p:txBody>
          <a:bodyPr>
            <a:normAutofit/>
          </a:bodyPr>
          <a:lstStyle/>
          <a:p>
            <a:r>
              <a:rPr lang="en-US" sz="2400" dirty="0"/>
              <a:t>Purpose: Understand data relationships and detect outliers</a:t>
            </a:r>
          </a:p>
          <a:p>
            <a:r>
              <a:rPr lang="en-US" sz="2400" dirty="0"/>
              <a:t>Visualizations Created:</a:t>
            </a:r>
          </a:p>
          <a:p>
            <a:pPr lvl="1"/>
            <a:r>
              <a:rPr lang="en-US" sz="2400" dirty="0"/>
              <a:t>Boxplot - Detect unusual/extreme values</a:t>
            </a:r>
          </a:p>
          <a:p>
            <a:pPr lvl="1"/>
            <a:r>
              <a:rPr lang="en-US" sz="2400" dirty="0"/>
              <a:t>Correlation Heatmap - Show feature relationships</a:t>
            </a:r>
          </a:p>
          <a:p>
            <a:pPr lvl="1"/>
            <a:r>
              <a:rPr lang="en-US" sz="2400" dirty="0"/>
              <a:t>Distribution Charts - Understand data spread</a:t>
            </a:r>
          </a:p>
          <a:p>
            <a:r>
              <a:rPr lang="en-US" sz="2400" dirty="0"/>
              <a:t>Insights:</a:t>
            </a:r>
          </a:p>
          <a:p>
            <a:pPr lvl="1"/>
            <a:r>
              <a:rPr lang="en-US" sz="2400" dirty="0"/>
              <a:t>Identify key features affecting price</a:t>
            </a:r>
          </a:p>
          <a:p>
            <a:pPr lvl="1"/>
            <a:r>
              <a:rPr lang="en-US" sz="2400" dirty="0"/>
              <a:t>Detect outliers and anomalies</a:t>
            </a:r>
          </a:p>
          <a:p>
            <a:pPr lvl="1"/>
            <a:r>
              <a:rPr lang="en-US" sz="2400" dirty="0"/>
              <a:t>Visualize correlations between variables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D61526-1879-EE6F-63FB-CB5A48D6BA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633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96E4C-4B13-5D10-E5A4-F7E941FFC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7534656" cy="1124712"/>
          </a:xfrm>
        </p:spPr>
        <p:txBody>
          <a:bodyPr/>
          <a:lstStyle/>
          <a:p>
            <a:r>
              <a:rPr lang="en-IN" b="1" dirty="0"/>
              <a:t>Model Training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E52E2-71D4-3377-6193-D8522876AB7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1750711"/>
            <a:ext cx="10439401" cy="4671859"/>
          </a:xfrm>
        </p:spPr>
        <p:txBody>
          <a:bodyPr>
            <a:normAutofit/>
          </a:bodyPr>
          <a:lstStyle/>
          <a:p>
            <a:r>
              <a:rPr lang="en-US" dirty="0"/>
              <a:t>Data Split:</a:t>
            </a:r>
          </a:p>
          <a:p>
            <a:pPr lvl="1"/>
            <a:r>
              <a:rPr lang="en-US" sz="2000" dirty="0"/>
              <a:t>Training Set: 80% (learn patterns)</a:t>
            </a:r>
          </a:p>
          <a:p>
            <a:pPr lvl="1"/>
            <a:r>
              <a:rPr lang="en-US" sz="2000" dirty="0"/>
              <a:t>Test Set: 20% (evaluate performance)</a:t>
            </a:r>
          </a:p>
          <a:p>
            <a:r>
              <a:rPr lang="en-US" dirty="0"/>
              <a:t>Models Trained:</a:t>
            </a:r>
          </a:p>
          <a:p>
            <a:pPr lvl="1"/>
            <a:r>
              <a:rPr lang="en-US" sz="2000" dirty="0"/>
              <a:t>Linear Regression</a:t>
            </a:r>
          </a:p>
          <a:p>
            <a:pPr lvl="2"/>
            <a:r>
              <a:rPr lang="en-US" sz="2000" dirty="0"/>
              <a:t>Simple parametric model</a:t>
            </a:r>
          </a:p>
          <a:p>
            <a:pPr lvl="2"/>
            <a:r>
              <a:rPr lang="en-US" sz="2000" dirty="0"/>
              <a:t>Assumes linear relationships</a:t>
            </a:r>
          </a:p>
          <a:p>
            <a:pPr lvl="2"/>
            <a:r>
              <a:rPr lang="en-US" sz="2000" dirty="0"/>
              <a:t>Fast training and prediction</a:t>
            </a:r>
          </a:p>
          <a:p>
            <a:pPr lvl="1"/>
            <a:r>
              <a:rPr lang="en-US" sz="2000" dirty="0"/>
              <a:t>Random Forest</a:t>
            </a:r>
          </a:p>
          <a:p>
            <a:pPr lvl="2"/>
            <a:r>
              <a:rPr lang="en-US" sz="2000" dirty="0"/>
              <a:t>Ensemble of decision trees</a:t>
            </a:r>
          </a:p>
          <a:p>
            <a:pPr lvl="2"/>
            <a:r>
              <a:rPr lang="en-US" sz="2000" dirty="0"/>
              <a:t>Captures non-linear relationships</a:t>
            </a:r>
          </a:p>
          <a:p>
            <a:pPr lvl="2"/>
            <a:r>
              <a:rPr lang="en-US" sz="2000" dirty="0"/>
              <a:t>More accurate but slower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4249DF-918D-0D9B-6090-82B99071D8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820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32505-DA6C-D5EE-D7A2-292F7BB81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Model Evaluation</a:t>
            </a:r>
            <a:br>
              <a:rPr lang="en-IN" b="1" dirty="0"/>
            </a:b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05381B5-8757-9483-0160-8BE354E779A7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490901360"/>
              </p:ext>
            </p:extLst>
          </p:nvPr>
        </p:nvGraphicFramePr>
        <p:xfrm>
          <a:off x="1328056" y="4289046"/>
          <a:ext cx="7957456" cy="1915812"/>
        </p:xfrm>
        <a:graphic>
          <a:graphicData uri="http://schemas.openxmlformats.org/drawingml/2006/table">
            <a:tbl>
              <a:tblPr/>
              <a:tblGrid>
                <a:gridCol w="1989364">
                  <a:extLst>
                    <a:ext uri="{9D8B030D-6E8A-4147-A177-3AD203B41FA5}">
                      <a16:colId xmlns:a16="http://schemas.microsoft.com/office/drawing/2014/main" val="403334924"/>
                    </a:ext>
                  </a:extLst>
                </a:gridCol>
                <a:gridCol w="1989364">
                  <a:extLst>
                    <a:ext uri="{9D8B030D-6E8A-4147-A177-3AD203B41FA5}">
                      <a16:colId xmlns:a16="http://schemas.microsoft.com/office/drawing/2014/main" val="2081791858"/>
                    </a:ext>
                  </a:extLst>
                </a:gridCol>
                <a:gridCol w="1989364">
                  <a:extLst>
                    <a:ext uri="{9D8B030D-6E8A-4147-A177-3AD203B41FA5}">
                      <a16:colId xmlns:a16="http://schemas.microsoft.com/office/drawing/2014/main" val="10357938"/>
                    </a:ext>
                  </a:extLst>
                </a:gridCol>
                <a:gridCol w="1989364">
                  <a:extLst>
                    <a:ext uri="{9D8B030D-6E8A-4147-A177-3AD203B41FA5}">
                      <a16:colId xmlns:a16="http://schemas.microsoft.com/office/drawing/2014/main" val="758849600"/>
                    </a:ext>
                  </a:extLst>
                </a:gridCol>
              </a:tblGrid>
              <a:tr h="6386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Model</a:t>
                      </a:r>
                    </a:p>
                  </a:txBody>
                  <a:tcPr marL="25906" marR="25906" marT="17271" marB="17271" anchor="ctr">
                    <a:lnL>
                      <a:noFill/>
                    </a:lnL>
                    <a:lnR w="4229" cap="flat" cmpd="sng" algn="ctr">
                      <a:solidFill>
                        <a:srgbClr val="30FE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4229" cap="flat" cmpd="sng" algn="ctr">
                      <a:solidFill>
                        <a:srgbClr val="30FE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effectLst/>
                        </a:rPr>
                        <a:t>MAE</a:t>
                      </a:r>
                    </a:p>
                  </a:txBody>
                  <a:tcPr marL="25906" marR="25906" marT="17271" marB="17271" anchor="ctr">
                    <a:lnL w="4229" cap="flat" cmpd="sng" algn="ctr">
                      <a:solidFill>
                        <a:srgbClr val="30FE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30FB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4229" cap="flat" cmpd="sng" algn="ctr">
                      <a:solidFill>
                        <a:srgbClr val="30FB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RMSE</a:t>
                      </a:r>
                    </a:p>
                  </a:txBody>
                  <a:tcPr marL="25906" marR="25906" marT="17271" marB="17271" anchor="ctr">
                    <a:lnL w="4229" cap="flat" cmpd="sng" algn="ctr">
                      <a:solidFill>
                        <a:srgbClr val="30FB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70FF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4229" cap="flat" cmpd="sng" algn="ctr">
                      <a:solidFill>
                        <a:srgbClr val="70FF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R² Score</a:t>
                      </a:r>
                    </a:p>
                  </a:txBody>
                  <a:tcPr marL="25906" marR="25906" marT="17271" marB="17271" anchor="ctr">
                    <a:lnL w="4229" cap="flat" cmpd="sng" algn="ctr">
                      <a:solidFill>
                        <a:srgbClr val="70FF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4229" cap="flat" cmpd="sng" algn="ctr">
                      <a:solidFill>
                        <a:srgbClr val="7012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596225"/>
                  </a:ext>
                </a:extLst>
              </a:tr>
              <a:tr h="6386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Linear Regression</a:t>
                      </a:r>
                    </a:p>
                  </a:txBody>
                  <a:tcPr marL="25906" marR="25906" marT="17271" marB="17271" anchor="ctr">
                    <a:lnL>
                      <a:noFill/>
                    </a:lnL>
                    <a:lnR w="4229" cap="flat" cmpd="sng" algn="ctr">
                      <a:solidFill>
                        <a:srgbClr val="702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30FE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702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[Value]</a:t>
                      </a:r>
                    </a:p>
                  </a:txBody>
                  <a:tcPr marL="25906" marR="25906" marT="17271" marB="17271" anchor="ctr">
                    <a:lnL w="4229" cap="flat" cmpd="sng" algn="ctr">
                      <a:solidFill>
                        <a:srgbClr val="702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7023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30FB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7023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[Value]</a:t>
                      </a:r>
                    </a:p>
                  </a:txBody>
                  <a:tcPr marL="25906" marR="25906" marT="17271" marB="17271" anchor="ctr">
                    <a:lnL w="4229" cap="flat" cmpd="sng" algn="ctr">
                      <a:solidFill>
                        <a:srgbClr val="7023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30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70FF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30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[Value]</a:t>
                      </a:r>
                    </a:p>
                  </a:txBody>
                  <a:tcPr marL="25906" marR="25906" marT="17271" marB="17271" anchor="ctr">
                    <a:lnL w="4229" cap="flat" cmpd="sng" algn="ctr">
                      <a:solidFill>
                        <a:srgbClr val="30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4229" cap="flat" cmpd="sng" algn="ctr">
                      <a:solidFill>
                        <a:srgbClr val="7012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B02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181508"/>
                  </a:ext>
                </a:extLst>
              </a:tr>
              <a:tr h="6386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Random Forest</a:t>
                      </a:r>
                    </a:p>
                  </a:txBody>
                  <a:tcPr marL="25906" marR="25906" marT="17271" marB="17271" anchor="ctr">
                    <a:lnL>
                      <a:noFill/>
                    </a:lnL>
                    <a:lnR w="4229" cap="flat" cmpd="sng" algn="ctr">
                      <a:solidFill>
                        <a:srgbClr val="F03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702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[Value]</a:t>
                      </a:r>
                    </a:p>
                  </a:txBody>
                  <a:tcPr marL="25906" marR="25906" marT="17271" marB="17271" anchor="ctr">
                    <a:lnL w="4229" cap="flat" cmpd="sng" algn="ctr">
                      <a:solidFill>
                        <a:srgbClr val="F03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703A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7023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effectLst/>
                        </a:rPr>
                        <a:t>[Value]</a:t>
                      </a:r>
                    </a:p>
                  </a:txBody>
                  <a:tcPr marL="25906" marR="25906" marT="17271" marB="17271" anchor="ctr">
                    <a:lnL w="4229" cap="flat" cmpd="sng" algn="ctr">
                      <a:solidFill>
                        <a:srgbClr val="703A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B03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30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effectLst/>
                        </a:rPr>
                        <a:t>[Value]</a:t>
                      </a:r>
                    </a:p>
                  </a:txBody>
                  <a:tcPr marL="25906" marR="25906" marT="17271" marB="17271" anchor="ctr">
                    <a:lnL w="4229" cap="flat" cmpd="sng" algn="ctr">
                      <a:solidFill>
                        <a:srgbClr val="B03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4229" cap="flat" cmpd="sng" algn="ctr">
                      <a:solidFill>
                        <a:srgbClr val="B02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5730329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2D8ED6-5966-D710-97B2-74E5407BAA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8E90EC0-8C73-8524-BAA3-AE066B56175B}"/>
              </a:ext>
            </a:extLst>
          </p:cNvPr>
          <p:cNvSpPr txBox="1">
            <a:spLocks/>
          </p:cNvSpPr>
          <p:nvPr/>
        </p:nvSpPr>
        <p:spPr>
          <a:xfrm>
            <a:off x="914400" y="1750711"/>
            <a:ext cx="10352316" cy="4726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rgbClr val="BFBFBF"/>
                </a:solidFill>
                <a:latin typeface="Aptos" panose="020B0004020202020204" pitchFamily="34" charset="0"/>
              </a:rPr>
              <a:t>Metrics Used: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rgbClr val="BFBFBF"/>
                </a:solidFill>
                <a:latin typeface="Aptos" panose="020B0004020202020204" pitchFamily="34" charset="0"/>
              </a:rPr>
              <a:t>MAE (Mean Absolute Error): Average prediction error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rgbClr val="BFBFBF"/>
                </a:solidFill>
                <a:latin typeface="Aptos" panose="020B0004020202020204" pitchFamily="34" charset="0"/>
              </a:rPr>
              <a:t>RMSE (Root Mean Squared Error): Penalizes large errors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rgbClr val="BFBFBF"/>
                </a:solidFill>
                <a:latin typeface="Aptos" panose="020B0004020202020204" pitchFamily="34" charset="0"/>
              </a:rPr>
              <a:t>R² Score: How well model fits (0-1 scale)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rgbClr val="BFBFBF"/>
                </a:solidFill>
                <a:latin typeface="Aptos" panose="020B0004020202020204" pitchFamily="34" charset="0"/>
              </a:rPr>
              <a:t>Results Comparison: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rgbClr val="BFBFBF"/>
                </a:solidFill>
                <a:latin typeface="Aptos" panose="020B0004020202020204" pitchFamily="34" charset="0"/>
              </a:rPr>
              <a:t>Winner: [Best Model based on R²]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2292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35F1B-7A94-9569-8A07-3E4A38120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Feature Importance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717B3-4607-535A-BBC2-1D9799A13F5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1476756"/>
            <a:ext cx="8414657" cy="3904488"/>
          </a:xfrm>
        </p:spPr>
        <p:txBody>
          <a:bodyPr/>
          <a:lstStyle/>
          <a:p>
            <a:r>
              <a:rPr lang="en-US" sz="2400" dirty="0"/>
              <a:t>What Matters Most?</a:t>
            </a:r>
          </a:p>
          <a:p>
            <a:pPr lvl="1"/>
            <a:r>
              <a:rPr lang="en-US" sz="2400" dirty="0"/>
              <a:t>Random Forest reveals which features drive prices</a:t>
            </a:r>
          </a:p>
          <a:p>
            <a:pPr lvl="1"/>
            <a:r>
              <a:rPr lang="en-US" sz="2400" dirty="0"/>
              <a:t>Top features ranked by importance score</a:t>
            </a:r>
          </a:p>
          <a:p>
            <a:r>
              <a:rPr lang="en-US" sz="2400" dirty="0"/>
              <a:t>Key Findings:</a:t>
            </a:r>
          </a:p>
          <a:p>
            <a:pPr lvl="1"/>
            <a:r>
              <a:rPr lang="en-US" sz="2400" dirty="0"/>
              <a:t>RAM, Battery, Camera specs often top the list</a:t>
            </a:r>
          </a:p>
          <a:p>
            <a:pPr lvl="1"/>
            <a:r>
              <a:rPr lang="en-US" sz="2400" dirty="0"/>
              <a:t>Brand and processor also significant</a:t>
            </a:r>
          </a:p>
          <a:p>
            <a:pPr lvl="1"/>
            <a:r>
              <a:rPr lang="en-US" sz="2400" dirty="0"/>
              <a:t>Helps understand pricing strategy</a:t>
            </a:r>
          </a:p>
          <a:p>
            <a:r>
              <a:rPr lang="en-US" sz="2400" dirty="0"/>
              <a:t>Visualization: Bar chart showing top 15 features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39A4F6-4C71-AE1F-0383-F34855A413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811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CC453-7083-E149-CC94-51C3B55D5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Prediction Analysis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6062B-FFC5-088E-9B3E-F065D8D8202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1476756"/>
            <a:ext cx="8360229" cy="3904488"/>
          </a:xfrm>
        </p:spPr>
        <p:txBody>
          <a:bodyPr>
            <a:normAutofit/>
          </a:bodyPr>
          <a:lstStyle/>
          <a:p>
            <a:r>
              <a:rPr lang="en-IN" sz="2400" dirty="0"/>
              <a:t>Actual vs Predicted:</a:t>
            </a:r>
          </a:p>
          <a:p>
            <a:pPr lvl="1"/>
            <a:r>
              <a:rPr lang="en-IN" sz="2400" dirty="0"/>
              <a:t>Scatter plots comparing real prices vs predictions</a:t>
            </a:r>
          </a:p>
          <a:p>
            <a:pPr lvl="1"/>
            <a:r>
              <a:rPr lang="en-IN" sz="2400" dirty="0"/>
              <a:t>Perfect prediction line for reference</a:t>
            </a:r>
          </a:p>
          <a:p>
            <a:r>
              <a:rPr lang="en-IN" sz="2400" dirty="0"/>
              <a:t>Residual Analysis:</a:t>
            </a:r>
          </a:p>
          <a:p>
            <a:pPr lvl="1"/>
            <a:r>
              <a:rPr lang="en-IN" sz="2400" dirty="0"/>
              <a:t>Shows prediction errors</a:t>
            </a:r>
          </a:p>
          <a:p>
            <a:pPr lvl="1"/>
            <a:r>
              <a:rPr lang="en-IN" sz="2400" dirty="0"/>
              <a:t>Identifies where models struggle</a:t>
            </a:r>
          </a:p>
          <a:p>
            <a:r>
              <a:rPr lang="en-IN" sz="2400" dirty="0"/>
              <a:t>Both Models Visualized:</a:t>
            </a:r>
          </a:p>
          <a:p>
            <a:pPr lvl="1"/>
            <a:r>
              <a:rPr lang="en-IN" sz="2400" dirty="0"/>
              <a:t>Linear Regression performance</a:t>
            </a:r>
          </a:p>
          <a:p>
            <a:pPr lvl="1"/>
            <a:r>
              <a:rPr lang="en-IN" sz="2400" dirty="0"/>
              <a:t>Random Forest performance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0B259E-5F79-0EB0-3CED-721908A715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683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D7774-A2F4-B8DB-E949-EE657383C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Final Results &amp; Summary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5F10C-E778-AD60-5945-C0CAF499A07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1549255"/>
            <a:ext cx="9927771" cy="4818888"/>
          </a:xfrm>
        </p:spPr>
        <p:txBody>
          <a:bodyPr>
            <a:normAutofit fontScale="92500" lnSpcReduction="10000"/>
          </a:bodyPr>
          <a:lstStyle/>
          <a:p>
            <a:r>
              <a:rPr lang="en-IN" sz="2600" dirty="0"/>
              <a:t>Project Summary:</a:t>
            </a:r>
          </a:p>
          <a:p>
            <a:pPr lvl="1"/>
            <a:r>
              <a:rPr lang="en-IN" sz="2600" dirty="0"/>
              <a:t>Dataset: 541 phones, multiple features</a:t>
            </a:r>
          </a:p>
          <a:p>
            <a:pPr lvl="1"/>
            <a:r>
              <a:rPr lang="en-IN" sz="2600" dirty="0"/>
              <a:t>Models: Linear Regression vs Random Forest</a:t>
            </a:r>
          </a:p>
          <a:p>
            <a:pPr lvl="1"/>
            <a:r>
              <a:rPr lang="en-IN" sz="2600" dirty="0"/>
              <a:t>Best Model: [Winner]</a:t>
            </a:r>
          </a:p>
          <a:p>
            <a:pPr lvl="1"/>
            <a:r>
              <a:rPr lang="en-IN" sz="2600" dirty="0"/>
              <a:t>Accuracy: [Key metrics]</a:t>
            </a:r>
          </a:p>
          <a:p>
            <a:r>
              <a:rPr lang="en-IN" sz="2600" dirty="0"/>
              <a:t>Business Insights:</a:t>
            </a:r>
          </a:p>
          <a:p>
            <a:pPr lvl="1"/>
            <a:r>
              <a:rPr lang="en-IN" sz="2600" dirty="0"/>
              <a:t>Understand price drivers</a:t>
            </a:r>
          </a:p>
          <a:p>
            <a:pPr lvl="1"/>
            <a:r>
              <a:rPr lang="en-IN" sz="2600" dirty="0"/>
              <a:t>Market segmentation</a:t>
            </a:r>
          </a:p>
          <a:p>
            <a:pPr lvl="1"/>
            <a:r>
              <a:rPr lang="en-IN" sz="2600" dirty="0"/>
              <a:t>Competitive positioning</a:t>
            </a:r>
          </a:p>
          <a:p>
            <a:r>
              <a:rPr lang="en-IN" sz="2600" dirty="0"/>
              <a:t>Next Steps:</a:t>
            </a:r>
          </a:p>
          <a:p>
            <a:pPr lvl="1"/>
            <a:r>
              <a:rPr lang="en-IN" sz="2600" dirty="0"/>
              <a:t>Hyperparameter tuning</a:t>
            </a:r>
          </a:p>
          <a:p>
            <a:pPr lvl="1"/>
            <a:r>
              <a:rPr lang="en-IN" sz="2600" dirty="0"/>
              <a:t>Cross-validation</a:t>
            </a:r>
          </a:p>
          <a:p>
            <a:pPr lvl="1"/>
            <a:r>
              <a:rPr lang="en-IN" sz="2600" dirty="0"/>
              <a:t>Production deployment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92C98-F6C1-A998-0943-5B7159113C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653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2A3D95EF-8A67-7F71-37EF-9EB02511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2843784"/>
          </a:xfrm>
        </p:spPr>
        <p:txBody>
          <a:bodyPr anchor="b"/>
          <a:lstStyle/>
          <a:p>
            <a:r>
              <a:rPr lang="en-IN" b="1" dirty="0"/>
              <a:t>Technical Stack</a:t>
            </a:r>
          </a:p>
        </p:txBody>
      </p:sp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/>
              <a:t>Tools &amp; Technologies</a:t>
            </a:r>
            <a:endParaRPr lang="en-US" sz="3600" b="1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4A3718F-D67C-255A-4B64-BA379609FCD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/>
          <a:p>
            <a:r>
              <a:rPr lang="en-IN" sz="2400" dirty="0"/>
              <a:t>Python Libraries:</a:t>
            </a:r>
          </a:p>
          <a:p>
            <a:pPr lvl="1"/>
            <a:r>
              <a:rPr lang="en-IN" sz="2400" dirty="0"/>
              <a:t>Pandas: Data manipulation</a:t>
            </a:r>
          </a:p>
          <a:p>
            <a:pPr lvl="1"/>
            <a:r>
              <a:rPr lang="en-IN" sz="2400" dirty="0"/>
              <a:t>NumPy: Numerical computations</a:t>
            </a:r>
          </a:p>
          <a:p>
            <a:pPr lvl="1"/>
            <a:r>
              <a:rPr lang="en-IN" sz="2400" dirty="0"/>
              <a:t>Matplotlib/Seaborn: Visualization</a:t>
            </a:r>
          </a:p>
          <a:p>
            <a:pPr lvl="1"/>
            <a:r>
              <a:rPr lang="en-IN" sz="2400" dirty="0"/>
              <a:t>Scikit-learn: ML models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2F3CEF66-C6D7-C765-24E7-1DCFB38FE51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/>
          <a:p>
            <a:r>
              <a:rPr lang="en-US" sz="2800" dirty="0"/>
              <a:t>Methods:</a:t>
            </a:r>
          </a:p>
          <a:p>
            <a:pPr lvl="1"/>
            <a:r>
              <a:rPr lang="en-US" sz="2800" dirty="0"/>
              <a:t>Data preprocessing</a:t>
            </a:r>
          </a:p>
          <a:p>
            <a:pPr lvl="1"/>
            <a:r>
              <a:rPr lang="en-US" sz="2800" dirty="0"/>
              <a:t>Feature engineering</a:t>
            </a:r>
          </a:p>
          <a:p>
            <a:pPr lvl="1"/>
            <a:r>
              <a:rPr lang="en-US" sz="2800" dirty="0"/>
              <a:t>Model training &amp; evaluation</a:t>
            </a:r>
          </a:p>
          <a:p>
            <a:pPr lvl="1"/>
            <a:r>
              <a:rPr lang="en-US" sz="2800" dirty="0"/>
              <a:t>Feature importance analysis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{72B12090-0B2F-40CE-9577-66ACBE2C0E36}TF1ed9553b-00c4-4092-846a-c8f7f2908f3beecd942f_win32-8e33096c3cfc</Template>
  <TotalTime>36</TotalTime>
  <Words>586</Words>
  <Application>Microsoft Office PowerPoint</Application>
  <PresentationFormat>Widescreen</PresentationFormat>
  <Paragraphs>129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Agency FB</vt:lpstr>
      <vt:lpstr>Algerian</vt:lpstr>
      <vt:lpstr>Aptos</vt:lpstr>
      <vt:lpstr>Arial</vt:lpstr>
      <vt:lpstr>Calibri</vt:lpstr>
      <vt:lpstr>Courier New</vt:lpstr>
      <vt:lpstr>Gill Sans Nova Light</vt:lpstr>
      <vt:lpstr>Sagona Book</vt:lpstr>
      <vt:lpstr>Custom</vt:lpstr>
      <vt:lpstr>NextHikes IT Solutions-Project_4  Feature Extraction and Price Prediction for  Mobile Phones   </vt:lpstr>
      <vt:lpstr> What is This Project?   </vt:lpstr>
      <vt:lpstr>Data Loading &amp; Exploration</vt:lpstr>
      <vt:lpstr>Data Cleaning &amp; Preprocessing </vt:lpstr>
      <vt:lpstr> Data Visualization </vt:lpstr>
      <vt:lpstr>Model Training </vt:lpstr>
      <vt:lpstr>Model Evaluation </vt:lpstr>
      <vt:lpstr>Feature Importance </vt:lpstr>
      <vt:lpstr>Prediction Analysis </vt:lpstr>
      <vt:lpstr>Final Results &amp; Summary </vt:lpstr>
      <vt:lpstr>Technical Stack</vt:lpstr>
      <vt:lpstr>Tools &amp; Technologies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sachin silmana</dc:creator>
  <cp:lastModifiedBy>sachin silmana</cp:lastModifiedBy>
  <cp:revision>5</cp:revision>
  <dcterms:created xsi:type="dcterms:W3CDTF">2026-04-20T03:53:02Z</dcterms:created>
  <dcterms:modified xsi:type="dcterms:W3CDTF">2026-04-20T04:29:21Z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